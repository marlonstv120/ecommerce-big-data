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15400" y="1643062"/>
            <a:ext cx="2667000" cy="733425"/>
          </a:xfrm>
          <a:prstGeom prst="roundRect">
            <a:avLst>
              <a:gd name="adj" fmla="val 10389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15400" y="2909887"/>
            <a:ext cx="2667000" cy="733425"/>
          </a:xfrm>
          <a:prstGeom prst="roundRect">
            <a:avLst>
              <a:gd name="adj" fmla="val 10389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15400" y="4176712"/>
            <a:ext cx="2667000" cy="733425"/>
          </a:xfrm>
          <a:prstGeom prst="roundRect">
            <a:avLst>
              <a:gd name="adj" fmla="val 10389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219348"/>
            <a:ext cx="203150" cy="5715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2750" y="1219348"/>
            <a:ext cx="203150" cy="5715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15900" y="1219348"/>
            <a:ext cx="203150" cy="57150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15400" y="1643062"/>
            <a:ext cx="57150" cy="733425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15400" y="2909887"/>
            <a:ext cx="57150" cy="733425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15400" y="4176712"/>
            <a:ext cx="57150" cy="733425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348"/>
            <a:ext cx="609600" cy="571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0" y="2528887"/>
            <a:ext cx="1714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0" y="3795712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257925"/>
            <a:ext cx="2940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docs/analisis_exploratorio_fase1.md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34775" y="6257925"/>
            <a:ext cx="333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505098"/>
            <a:ext cx="7012751" cy="183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17324D"/>
                </a:solidFill>
                <a:latin typeface="Inter"/>
              </a:rPr>
              <a:t>De visitas a </a:t>
            </a:r>
            <a:r>
              <a:rPr sz="4200" b="1" i="0" u="none" dirty="0" err="1">
                <a:solidFill>
                  <a:srgbClr val="17324D"/>
                </a:solidFill>
                <a:latin typeface="Inter"/>
              </a:rPr>
              <a:t>compras</a:t>
            </a:r>
            <a:r>
              <a:rPr sz="4200" b="1" i="0" u="none" dirty="0">
                <a:solidFill>
                  <a:srgbClr val="17324D"/>
                </a:solidFill>
                <a:latin typeface="Inter"/>
              </a:rPr>
              <a:t>: </a:t>
            </a:r>
            <a:r>
              <a:rPr sz="4200" b="1" i="0" u="none" dirty="0" err="1">
                <a:solidFill>
                  <a:srgbClr val="17324D"/>
                </a:solidFill>
                <a:latin typeface="Inter"/>
              </a:rPr>
              <a:t>analítica</a:t>
            </a:r>
            <a:r>
              <a:rPr sz="4200" b="1" i="0" u="none" dirty="0">
                <a:solidFill>
                  <a:srgbClr val="17324D"/>
                </a:solidFill>
                <a:latin typeface="Inter"/>
              </a:rPr>
              <a:t> Big Data para eCommerce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497460"/>
            <a:ext cx="701275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277DA1"/>
                </a:solidFill>
                <a:latin typeface="Inter"/>
              </a:rPr>
              <a:t>Pipeline PySpark · Dashboard interactivo · Modelo de 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602360"/>
            <a:ext cx="8229451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Dataset REES46, octubre–noviembre de 2019.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846141"/>
            <a:ext cx="5200398" cy="2233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 err="1">
                <a:solidFill>
                  <a:srgbClr val="17324D"/>
                </a:solidFill>
                <a:latin typeface="Inter"/>
              </a:rPr>
              <a:t>Integrantes</a:t>
            </a:r>
            <a:r>
              <a:rPr sz="1200" b="0" i="0" u="none" dirty="0">
                <a:solidFill>
                  <a:srgbClr val="17324D"/>
                </a:solidFill>
                <a:latin typeface="Inter"/>
              </a:rPr>
              <a:t>: </a:t>
            </a:r>
            <a:r>
              <a:rPr lang="es-CO" sz="1200" dirty="0">
                <a:solidFill>
                  <a:srgbClr val="17324D"/>
                </a:solidFill>
                <a:latin typeface="Inter"/>
              </a:rPr>
              <a:t>Cristian </a:t>
            </a:r>
            <a:r>
              <a:rPr lang="es-CO" sz="1200" dirty="0" err="1">
                <a:solidFill>
                  <a:srgbClr val="17324D"/>
                </a:solidFill>
                <a:latin typeface="Inter"/>
              </a:rPr>
              <a:t>Hincapie</a:t>
            </a:r>
            <a:r>
              <a:rPr lang="es-CO" sz="1200" dirty="0">
                <a:solidFill>
                  <a:srgbClr val="17324D"/>
                </a:solidFill>
                <a:latin typeface="Inter"/>
              </a:rPr>
              <a:t>, Daniel Contreras, </a:t>
            </a:r>
            <a:r>
              <a:rPr lang="es-CO" sz="1200" dirty="0" err="1">
                <a:solidFill>
                  <a:srgbClr val="17324D"/>
                </a:solidFill>
                <a:latin typeface="Inter"/>
              </a:rPr>
              <a:t>Janderson</a:t>
            </a:r>
            <a:r>
              <a:rPr lang="es-CO" sz="1200" dirty="0">
                <a:solidFill>
                  <a:srgbClr val="17324D"/>
                </a:solidFill>
                <a:latin typeface="Inter"/>
              </a:rPr>
              <a:t> Santos y Marlon Velasco</a:t>
            </a:r>
            <a:endParaRPr sz="1200" b="0" i="0" u="none" dirty="0">
              <a:solidFill>
                <a:srgbClr val="17324D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4810" y="1871662"/>
            <a:ext cx="262532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7324D"/>
                </a:solidFill>
                <a:latin typeface="Inter"/>
              </a:rPr>
              <a:t>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4810" y="3138487"/>
            <a:ext cx="262532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7324D"/>
                </a:solidFill>
                <a:latin typeface="Inter"/>
              </a:rPr>
              <a:t>Decisiones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4810" y="4405312"/>
            <a:ext cx="262532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Valor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000125"/>
            <a:ext cx="10972800" cy="1905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76375"/>
            <a:ext cx="4169568" cy="4619625"/>
          </a:xfrm>
          <a:prstGeom prst="roundRect">
            <a:avLst>
              <a:gd name="adj" fmla="val 2741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60168" y="2357437"/>
            <a:ext cx="6803082" cy="9525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60168" y="3538537"/>
            <a:ext cx="6803082" cy="9525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0168" y="4719637"/>
            <a:ext cx="6803082" cy="9525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88768" y="2605087"/>
            <a:ext cx="424755" cy="457200"/>
          </a:xfrm>
          <a:prstGeom prst="roundRect">
            <a:avLst>
              <a:gd name="adj" fmla="val 50000"/>
            </a:avLst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88768" y="3786187"/>
            <a:ext cx="430857" cy="45720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88768" y="4967287"/>
            <a:ext cx="412700" cy="457200"/>
          </a:xfrm>
          <a:prstGeom prst="roundRect">
            <a:avLst>
              <a:gd name="adj" fmla="val 50000"/>
            </a:avLst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124" y="2700337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226" y="3881437"/>
            <a:ext cx="3048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069" y="5062537"/>
            <a:ext cx="275034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El reto no es atraer visitas: es </a:t>
            </a:r>
            <a:r>
              <a:rPr sz="2550" b="1" i="0" u="none">
                <a:solidFill>
                  <a:srgbClr val="0F172A"/>
                </a:solidFill>
                <a:latin typeface="Inter"/>
              </a:rPr>
              <a:t>convertirlas en compras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57925"/>
            <a:ext cx="2393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docs/arquitectura_fase1.md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2547937"/>
            <a:ext cx="406896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3AA8B"/>
                </a:solidFill>
                <a:latin typeface="Inter"/>
              </a:rPr>
              <a:t>PREGUNTA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2890837"/>
            <a:ext cx="3350418" cy="2133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400" b="1" i="0" u="none">
                <a:solidFill>
                  <a:srgbClr val="FFFFFF"/>
                </a:solidFill>
                <a:latin typeface="Inter"/>
              </a:rPr>
              <a:t>¿Cómo identificar los puntos del recorrido donde conviene actuar para aumentar la conversión?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168" y="1900237"/>
            <a:ext cx="7031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324D"/>
                </a:solidFill>
                <a:latin typeface="Inter"/>
              </a:rPr>
              <a:t>Tres preguntas de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5893" y="2605087"/>
            <a:ext cx="7105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5524" y="2678048"/>
            <a:ext cx="525437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7324D"/>
                </a:solidFill>
                <a:latin typeface="Inter"/>
              </a:rPr>
              <a:t>¿Dónde se pierde la sesión entre vista, carrito y compra?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5893" y="3786187"/>
            <a:ext cx="71660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626" y="3862387"/>
            <a:ext cx="52482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7324D"/>
                </a:solidFill>
                <a:latin typeface="Inter"/>
              </a:rPr>
              <a:t>¿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Qué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categorías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concentran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compras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y valor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estimado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5893" y="4967287"/>
            <a:ext cx="698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3703" y="5045869"/>
            <a:ext cx="529619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7324D"/>
                </a:solidFill>
                <a:latin typeface="Inter"/>
              </a:rPr>
              <a:t>¿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Qué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días y horas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muestran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mayor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actividad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 y </a:t>
            </a:r>
            <a:r>
              <a:rPr sz="1650" b="0" i="0" u="none" dirty="0" err="1">
                <a:solidFill>
                  <a:srgbClr val="17324D"/>
                </a:solidFill>
                <a:latin typeface="Inter"/>
              </a:rPr>
              <a:t>conversión</a:t>
            </a:r>
            <a:r>
              <a:rPr sz="1650" b="0" i="0" u="none" dirty="0">
                <a:solidFill>
                  <a:srgbClr val="17324D"/>
                </a:solidFill>
                <a:latin typeface="Inter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228725"/>
            <a:ext cx="2619375" cy="1257300"/>
          </a:xfrm>
          <a:prstGeom prst="roundRect">
            <a:avLst>
              <a:gd name="adj" fmla="val 606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57575" y="1228725"/>
            <a:ext cx="2555825" cy="1257300"/>
          </a:xfrm>
          <a:prstGeom prst="roundRect">
            <a:avLst>
              <a:gd name="adj" fmla="val 606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2000" y="1228725"/>
            <a:ext cx="2555825" cy="1257300"/>
          </a:xfrm>
          <a:prstGeom prst="roundRect">
            <a:avLst>
              <a:gd name="adj" fmla="val 606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26425" y="1228725"/>
            <a:ext cx="2555825" cy="1257300"/>
          </a:xfrm>
          <a:prstGeom prst="roundRect">
            <a:avLst>
              <a:gd name="adj" fmla="val 606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228725"/>
            <a:ext cx="2619375" cy="381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57575" y="1228725"/>
            <a:ext cx="2555825" cy="3810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2000" y="1228725"/>
            <a:ext cx="2555825" cy="3810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26425" y="1228725"/>
            <a:ext cx="2555825" cy="38100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3562350"/>
            <a:ext cx="5424636" cy="53340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4324350"/>
            <a:ext cx="8610600" cy="5334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109,95 millones de eventos en dos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57925"/>
            <a:ext cx="5167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data/output/eda_summary.json y docs/analisis_exploratorio_fase1.md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23875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Archivos históricos REES46/Kaggle. Los CSV originales se conservan intactos.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928" y="1571625"/>
            <a:ext cx="270271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17324D"/>
                </a:solidFill>
                <a:latin typeface="Inter"/>
              </a:rPr>
              <a:t>109.950.743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1990725"/>
            <a:ext cx="13430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7324D"/>
                </a:solidFill>
                <a:latin typeface="Inter"/>
              </a:rPr>
              <a:t>eventos fuente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2413" y="1571625"/>
            <a:ext cx="22860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277DA1"/>
                </a:solidFill>
                <a:latin typeface="Inter"/>
              </a:rPr>
              <a:t>13,668 GiB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2000" y="1990725"/>
            <a:ext cx="1266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7324D"/>
                </a:solidFill>
                <a:latin typeface="Inter"/>
              </a:rPr>
              <a:t>sin comprimir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6869" y="1571625"/>
            <a:ext cx="17859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Inter"/>
              </a:rPr>
              <a:t>2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5166" y="1990725"/>
            <a:ext cx="2369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7324D"/>
                </a:solidFill>
                <a:latin typeface="Inter"/>
              </a:rPr>
              <a:t>octubre y noviembre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7920" y="1571625"/>
            <a:ext cx="245268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Inter"/>
              </a:rPr>
              <a:t>9 columnas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0295" y="1990725"/>
            <a:ext cx="2547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7324D"/>
                </a:solidFill>
                <a:latin typeface="Inter"/>
              </a:rPr>
              <a:t>3 tipos: view, cart,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714750"/>
            <a:ext cx="2381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324D"/>
                </a:solidFill>
                <a:latin typeface="Inter"/>
              </a:rPr>
              <a:t>Octubre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476750"/>
            <a:ext cx="2381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324D"/>
                </a:solidFill>
                <a:latin typeface="Inter"/>
              </a:rPr>
              <a:t>Noviembre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562350"/>
            <a:ext cx="529128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42.448.764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324350"/>
            <a:ext cx="8477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67.501.979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680495"/>
            <a:ext cx="10972800" cy="685800"/>
          </a:xfrm>
          <a:prstGeom prst="rect">
            <a:avLst/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034629"/>
            <a:ext cx="2072580" cy="218866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E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34580" y="2034629"/>
            <a:ext cx="2072580" cy="218866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E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9560" y="2034629"/>
            <a:ext cx="2072580" cy="218866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E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4541" y="2034629"/>
            <a:ext cx="2072580" cy="218866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E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521" y="2034629"/>
            <a:ext cx="2072580" cy="2188666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EF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680495"/>
            <a:ext cx="76200" cy="685800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050" y="3661320"/>
            <a:ext cx="1729680" cy="314325"/>
          </a:xfrm>
          <a:prstGeom prst="roundRect">
            <a:avLst>
              <a:gd name="adj" fmla="val 12121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06030" y="3661320"/>
            <a:ext cx="1729680" cy="314325"/>
          </a:xfrm>
          <a:prstGeom prst="roundRect">
            <a:avLst>
              <a:gd name="adj" fmla="val 12121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31010" y="3661320"/>
            <a:ext cx="1729680" cy="314325"/>
          </a:xfrm>
          <a:prstGeom prst="roundRect">
            <a:avLst>
              <a:gd name="adj" fmla="val 12121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55991" y="3661320"/>
            <a:ext cx="1729680" cy="314325"/>
          </a:xfrm>
          <a:prstGeom prst="roundRect">
            <a:avLst>
              <a:gd name="adj" fmla="val 12121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80971" y="3661320"/>
            <a:ext cx="1729680" cy="314325"/>
          </a:xfrm>
          <a:prstGeom prst="roundRect">
            <a:avLst>
              <a:gd name="adj" fmla="val 12121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77" y="2282279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858" y="2282279"/>
            <a:ext cx="20002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263" y="2282279"/>
            <a:ext cx="2571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819" y="2282279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512" y="2282279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Las 5V determinaron qué procesar y cómo hacerlo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257925"/>
            <a:ext cx="3774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docs/analisis_exploratorio_fase1.md, sección 5V.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6200" y="6257925"/>
            <a:ext cx="3619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600" y="4909095"/>
            <a:ext cx="11201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Reto principal:</a:t>
            </a:r>
            <a:r>
              <a:rPr sz="1500" b="1" i="0" u="none">
                <a:solidFill>
                  <a:srgbClr val="17324D"/>
                </a:solidFill>
                <a:latin typeface="Inter"/>
              </a:rPr>
              <a:t> procesar el volumen en Windows con recursos limitados sin modificar los datos originales.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0818" y="2663279"/>
            <a:ext cx="11501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324D"/>
                </a:solidFill>
                <a:latin typeface="Inter"/>
              </a:rPr>
              <a:t>Volumen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140" y="3006179"/>
            <a:ext cx="1333500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7324D"/>
                </a:solidFill>
                <a:latin typeface="Inter"/>
              </a:rPr>
              <a:t>109,95 M</a:t>
            </a:r>
            <a:r>
              <a:t>
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13,668 GiB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0790" y="2663279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324D"/>
                </a:solidFill>
                <a:latin typeface="Inter"/>
              </a:rPr>
              <a:t>Velocidad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8883" y="3006179"/>
            <a:ext cx="132397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7324D"/>
                </a:solidFill>
                <a:latin typeface="Inter"/>
              </a:rPr>
              <a:t>75.103</a:t>
            </a:r>
            <a:r>
              <a:t>
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eventos / hora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0776" y="2663279"/>
            <a:ext cx="11901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324D"/>
                </a:solidFill>
                <a:latin typeface="Inter"/>
              </a:rPr>
              <a:t>Variedad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5726" y="3006179"/>
            <a:ext cx="2000250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7324D"/>
                </a:solidFill>
                <a:latin typeface="Inter"/>
              </a:rPr>
              <a:t>CSV tabulares</a:t>
            </a:r>
            <a:r>
              <a:t>
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9 campos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5749" y="2663279"/>
            <a:ext cx="131016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324D"/>
                </a:solidFill>
                <a:latin typeface="Inter"/>
              </a:rPr>
              <a:t>Veracidad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994" y="3006179"/>
            <a:ext cx="120967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7324D"/>
                </a:solidFill>
                <a:latin typeface="Inter"/>
              </a:rPr>
              <a:t>32,21 %</a:t>
            </a:r>
            <a:r>
              <a:t>
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sin categoría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761" y="2663279"/>
            <a:ext cx="81010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7324D"/>
                </a:solidFill>
                <a:latin typeface="Inter"/>
              </a:rPr>
              <a:t>Valor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6699" y="3006179"/>
            <a:ext cx="103822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800" b="1" i="0" u="none">
                <a:solidFill>
                  <a:srgbClr val="17324D"/>
                </a:solidFill>
                <a:latin typeface="Inter"/>
              </a:rPr>
              <a:t>Funnel</a:t>
            </a:r>
            <a:r>
              <a:t>
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y horarios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714" y="3737520"/>
            <a:ext cx="18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PySpark 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2695" y="3737520"/>
            <a:ext cx="18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Batch mensual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7675" y="3737520"/>
            <a:ext cx="18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Esquema controlado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2656" y="3737520"/>
            <a:ext cx="18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Conservar y marcar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7636" y="3737520"/>
            <a:ext cx="18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Orientar decisiones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33637"/>
            <a:ext cx="1529655" cy="15240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9050">
            <a:solidFill>
              <a:srgbClr val="A0AA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82155" y="2433637"/>
            <a:ext cx="152965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7D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54710" y="2433637"/>
            <a:ext cx="1529655" cy="1524000"/>
          </a:xfrm>
          <a:prstGeom prst="roundRect">
            <a:avLst>
              <a:gd name="adj" fmla="val 5000"/>
            </a:avLst>
          </a:prstGeom>
          <a:solidFill>
            <a:srgbClr val="EAF2F6"/>
          </a:solidFill>
          <a:ln w="19050">
            <a:solidFill>
              <a:srgbClr val="277D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7266" y="2433637"/>
            <a:ext cx="16097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7D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79891" y="2433637"/>
            <a:ext cx="1529655" cy="1524000"/>
          </a:xfrm>
          <a:prstGeom prst="roundRect">
            <a:avLst>
              <a:gd name="adj" fmla="val 5000"/>
            </a:avLst>
          </a:prstGeom>
          <a:solidFill>
            <a:srgbClr val="EDF6F3"/>
          </a:solidFill>
          <a:ln w="19050">
            <a:solidFill>
              <a:srgbClr val="43A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2446" y="2433637"/>
            <a:ext cx="1529655" cy="152400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9050">
            <a:solidFill>
              <a:srgbClr val="F9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710112"/>
            <a:ext cx="113853" cy="114300"/>
          </a:xfrm>
          <a:prstGeom prst="roundRect">
            <a:avLst>
              <a:gd name="adj" fmla="val 50000"/>
            </a:avLst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72458" y="4710112"/>
            <a:ext cx="113853" cy="114300"/>
          </a:xfrm>
          <a:prstGeom prst="roundRect">
            <a:avLst>
              <a:gd name="adj" fmla="val 50000"/>
            </a:avLst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98085" y="4710112"/>
            <a:ext cx="113853" cy="114300"/>
          </a:xfrm>
          <a:prstGeom prst="roundRect">
            <a:avLst>
              <a:gd name="adj" fmla="val 50000"/>
            </a:avLst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555" y="3100387"/>
            <a:ext cx="1143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10" y="3100387"/>
            <a:ext cx="1143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666" y="3100387"/>
            <a:ext cx="1143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291" y="3100387"/>
            <a:ext cx="1143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3846" y="3100387"/>
            <a:ext cx="1143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Una arquitectura de seis capas, Batch y reproducible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57925"/>
            <a:ext cx="2393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docs/arquitectura_fase1.md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619" y="2857500"/>
            <a:ext cx="15576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7324D"/>
                </a:solidFill>
                <a:latin typeface="Inter"/>
              </a:rPr>
              <a:t>1. Fuentes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05" y="3171825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REES46/Kaggle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05" y="3371850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Inter"/>
              </a:rPr>
              <a:t>CSV mensuales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174" y="2776537"/>
            <a:ext cx="15576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77DA1"/>
                </a:solidFill>
                <a:latin typeface="Inter"/>
              </a:rPr>
              <a:t>2. Ingesta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261" y="3090862"/>
            <a:ext cx="14834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PySpark CSV reader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5261" y="3452812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Inter"/>
              </a:rPr>
              <a:t>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0730" y="2795587"/>
            <a:ext cx="15576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77DA1"/>
                </a:solidFill>
                <a:latin typeface="Inter"/>
              </a:rPr>
              <a:t>3. Almacén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7816" y="3109912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Data Lake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7816" y="3309937"/>
            <a:ext cx="14834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66666"/>
                </a:solidFill>
                <a:latin typeface="Inter"/>
              </a:rPr>
              <a:t>Bronze → Silver →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0775" y="2757487"/>
            <a:ext cx="166270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77DA1"/>
                </a:solidFill>
                <a:latin typeface="Inter"/>
              </a:rPr>
              <a:t>4. Procesamiento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0363" y="3271837"/>
            <a:ext cx="1583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PySpark / 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0363" y="3471862"/>
            <a:ext cx="1583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Inter"/>
              </a:rPr>
              <a:t>CSV → Parquet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910" y="2757487"/>
            <a:ext cx="155761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5. Análisis y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996" y="3271837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Jupyter + MLlib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996" y="3471862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Inter"/>
              </a:rPr>
              <a:t>EDA y clasificación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8466" y="2676525"/>
            <a:ext cx="155761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6. Visualización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5552" y="3190875"/>
            <a:ext cx="14834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7324D"/>
                </a:solidFill>
                <a:latin typeface="Inter"/>
              </a:rPr>
              <a:t>Streamlit + Plotly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5552" y="3390900"/>
            <a:ext cx="14834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Inter"/>
              </a:rPr>
              <a:t>Dashboard interactivo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753" y="4658105"/>
            <a:ext cx="36251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7324D"/>
                </a:solidFill>
                <a:latin typeface="Inter"/>
              </a:rPr>
              <a:t>Data Lake: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conserva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el raw y reduce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costo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0612" y="4662868"/>
            <a:ext cx="338792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7324D"/>
                </a:solidFill>
                <a:latin typeface="Inter"/>
              </a:rPr>
              <a:t>ELT: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preserva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Bronze, luego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transforma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0527" y="4628769"/>
            <a:ext cx="29514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7324D"/>
                </a:solidFill>
                <a:latin typeface="Inter"/>
              </a:rPr>
              <a:t>Batch: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fuente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histórica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, no </a:t>
            </a:r>
            <a:r>
              <a:rPr sz="1350" b="0" i="0" u="none" dirty="0" err="1">
                <a:solidFill>
                  <a:srgbClr val="17324D"/>
                </a:solidFill>
                <a:latin typeface="Inter"/>
              </a:rPr>
              <a:t>en</a:t>
            </a:r>
            <a:r>
              <a:rPr sz="1350" b="0" i="0" u="none" dirty="0">
                <a:solidFill>
                  <a:srgbClr val="17324D"/>
                </a:solidFill>
                <a:latin typeface="Inter"/>
              </a:rPr>
              <a:t> vivo.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7513" y="2205037"/>
            <a:ext cx="2204739" cy="2476500"/>
          </a:xfrm>
          <a:prstGeom prst="roundRect">
            <a:avLst>
              <a:gd name="adj" fmla="val 3456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61852" y="2205037"/>
            <a:ext cx="2204739" cy="2476500"/>
          </a:xfrm>
          <a:prstGeom prst="roundRect">
            <a:avLst>
              <a:gd name="adj" fmla="val 3456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23792" y="2205037"/>
            <a:ext cx="2204739" cy="2476500"/>
          </a:xfrm>
          <a:prstGeom prst="roundRect">
            <a:avLst>
              <a:gd name="adj" fmla="val 3456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61852" y="2205037"/>
            <a:ext cx="2204739" cy="3810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23792" y="2205037"/>
            <a:ext cx="2204739" cy="3810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752" y="3473648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892" y="3328987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El pipeline transforma 109,95 M de eventos de punta a punta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57925"/>
            <a:ext cx="48220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data/output/pipeline_summary.json y docs/bitacora_proceso.md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1470" y="5616029"/>
            <a:ext cx="2948136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66666"/>
                </a:solidFill>
                <a:latin typeface="Inter"/>
              </a:rPr>
              <a:t>Demo reproducible de 100.000 filas. La ejecución completa está auditada en pipeline_summary.json.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113" y="2509837"/>
            <a:ext cx="22936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9844A"/>
                </a:solidFill>
                <a:latin typeface="Inter"/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5565" y="3184326"/>
            <a:ext cx="942975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900" b="1" i="0" u="none">
                <a:solidFill>
                  <a:srgbClr val="0F172A"/>
                </a:solidFill>
                <a:latin typeface="Inter"/>
              </a:rPr>
              <a:t>0 filas</a:t>
            </a:r>
            <a:r>
              <a:t>
</a:t>
            </a:r>
            <a:r>
              <a:rPr sz="900" b="1" i="0" u="none">
                <a:solidFill>
                  <a:srgbClr val="0F172A"/>
                </a:solidFill>
                <a:latin typeface="Inter"/>
              </a:rPr>
              <a:t> rechazadas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0452" y="2547937"/>
            <a:ext cx="22936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7DA1"/>
                </a:solidFill>
                <a:latin typeface="Inter"/>
              </a:rP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392" y="2547937"/>
            <a:ext cx="22936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63" y="3014662"/>
            <a:ext cx="95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613" y="3014662"/>
            <a:ext cx="1652289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109.950.743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filas CSV.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363" y="3643312"/>
            <a:ext cx="95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613" y="3643312"/>
            <a:ext cx="1652289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Originales inmutables.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5227" y="30527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0952" y="3052762"/>
            <a:ext cx="1652289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7324D"/>
                </a:solidFill>
                <a:latin typeface="Inter"/>
              </a:rPr>
              <a:t>109.820.004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 filas Parquet.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5227" y="36242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0952" y="3624262"/>
            <a:ext cx="1652289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Tipado, validación y partición mensual.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5227" y="41957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0952" y="4195762"/>
            <a:ext cx="1652289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7324D"/>
                </a:solidFill>
                <a:latin typeface="Inter"/>
              </a:rPr>
              <a:t>130.739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 duplicados exactos removidos.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7167" y="30527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2892" y="3052762"/>
            <a:ext cx="1946299" cy="2286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7324D"/>
                </a:solidFill>
                <a:latin typeface="Inter"/>
              </a:rPr>
              <a:t>5 tablas</a:t>
            </a:r>
            <a:r>
              <a:rPr sz="1200" b="0" i="0" u="none">
                <a:solidFill>
                  <a:srgbClr val="17324D"/>
                </a:solidFill>
                <a:latin typeface="Inter"/>
              </a:rPr>
              <a:t> agregadas.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7167" y="33956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2892" y="3395662"/>
            <a:ext cx="1652289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Funnel, categoría, fecha y hora.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7167" y="3967162"/>
            <a:ext cx="85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2892" y="3967162"/>
            <a:ext cx="1652289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Entrada del dashboard.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9F9C39CD-B7AE-9FCB-18C4-FD979DF47B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98" r="33632" b="6276"/>
          <a:stretch>
            <a:fillRect/>
          </a:stretch>
        </p:blipFill>
        <p:spPr>
          <a:xfrm>
            <a:off x="8146038" y="2927454"/>
            <a:ext cx="4045962" cy="2547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99090" y="1483072"/>
            <a:ext cx="3383309" cy="1996231"/>
          </a:xfrm>
          <a:prstGeom prst="roundRect">
            <a:avLst>
              <a:gd name="adj" fmla="val 5725"/>
            </a:avLst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99090" y="3707903"/>
            <a:ext cx="3383309" cy="2209800"/>
          </a:xfrm>
          <a:prstGeom prst="roundRect">
            <a:avLst>
              <a:gd name="adj" fmla="val 5172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99090" y="3707903"/>
            <a:ext cx="57150" cy="220980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2133600"/>
            <a:ext cx="2009179" cy="7620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52179" y="2133600"/>
            <a:ext cx="2047279" cy="762000"/>
          </a:xfrm>
          <a:prstGeom prst="roundRect">
            <a:avLst>
              <a:gd name="adj" fmla="val 5000"/>
            </a:avLst>
          </a:prstGeom>
          <a:solidFill>
            <a:srgbClr val="EAF2F6"/>
          </a:solidFill>
          <a:ln w="19050">
            <a:solidFill>
              <a:srgbClr val="277D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32859" y="2133600"/>
            <a:ext cx="2009179" cy="7620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3543300"/>
            <a:ext cx="2009179" cy="7620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52179" y="3543300"/>
            <a:ext cx="2047279" cy="762000"/>
          </a:xfrm>
          <a:prstGeom prst="roundRect">
            <a:avLst>
              <a:gd name="adj" fmla="val 5000"/>
            </a:avLst>
          </a:prstGeom>
          <a:solidFill>
            <a:srgbClr val="FFF3EC"/>
          </a:solidFill>
          <a:ln w="19050">
            <a:solidFill>
              <a:srgbClr val="F9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32859" y="3543300"/>
            <a:ext cx="2009179" cy="76200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379" y="2438400"/>
            <a:ext cx="762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059" y="2438400"/>
            <a:ext cx="762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379" y="3848100"/>
            <a:ext cx="762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059" y="3848100"/>
            <a:ext cx="762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La mayor oportunidad está entre la vista y el carrito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57925"/>
            <a:ext cx="4417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Tablas Gold funnel_by_month y docs/bitacora_proceso.md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71" y="1304925"/>
            <a:ext cx="25272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7324D"/>
                </a:solidFill>
                <a:latin typeface="Inter"/>
              </a:rPr>
              <a:t>Sesiones con vista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2101" y="1304925"/>
            <a:ext cx="25272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7324D"/>
                </a:solidFill>
                <a:latin typeface="Inter"/>
              </a:rPr>
              <a:t>Carrito posterior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7331" y="1304925"/>
            <a:ext cx="25272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7324D"/>
                </a:solidFill>
                <a:latin typeface="Inter"/>
              </a:rPr>
              <a:t>Compra posterior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866900"/>
            <a:ext cx="89153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77DA1"/>
                </a:solidFill>
                <a:latin typeface="Inter"/>
              </a:rPr>
              <a:t>Octubre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3276600"/>
            <a:ext cx="89153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7324D"/>
                </a:solidFill>
                <a:latin typeface="Inter"/>
              </a:rPr>
              <a:t>Noviembre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890" y="1787872"/>
            <a:ext cx="2868959" cy="1386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Incluso en noviembre, solo </a:t>
            </a:r>
            <a:r>
              <a:rPr sz="2400" b="1" i="0" u="none">
                <a:solidFill>
                  <a:srgbClr val="F8FAFC"/>
                </a:solidFill>
                <a:latin typeface="Inter"/>
              </a:rPr>
              <a:t>12,59 %</a:t>
            </a:r>
            <a:r>
              <a:rPr sz="1800" b="1" i="0" u="none">
                <a:solidFill>
                  <a:srgbClr val="F8FAFC"/>
                </a:solidFill>
                <a:latin typeface="Inter"/>
              </a:rPr>
              <a:t> de las sesiones con vista llegó a un carrito posterior.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1040" y="4012703"/>
            <a:ext cx="33956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7324D"/>
                </a:solidFill>
                <a:latin typeface="Inter"/>
              </a:rPr>
              <a:t>Prioridad propuesta: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1040" y="4327028"/>
            <a:ext cx="281180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7324D"/>
                </a:solidFill>
                <a:latin typeface="Inter"/>
              </a:rPr>
              <a:t>Investigar navegación, ficha de producto y motivadores para agregar al carrito antes de optimizar únicamente el checkout.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52" y="2133600"/>
            <a:ext cx="2511474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Inter"/>
              </a:rPr>
              <a:t>9.242.653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52" y="3543300"/>
            <a:ext cx="2511474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Inter"/>
              </a:rPr>
              <a:t>13.762.950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4344" y="2319337"/>
            <a:ext cx="1028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77DA1"/>
                </a:solidFill>
                <a:latin typeface="Inter"/>
              </a:rPr>
              <a:t>571.093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1507" y="2547937"/>
            <a:ext cx="714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77DA1"/>
                </a:solidFill>
                <a:latin typeface="Inter"/>
              </a:rPr>
              <a:t>6,18 %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5974" y="2319337"/>
            <a:ext cx="1028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289.517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7374" y="2547937"/>
            <a:ext cx="1500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50,70 % del carrito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2907" y="3729037"/>
            <a:ext cx="1171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1.733.122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3882" y="3957637"/>
            <a:ext cx="809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12,59 %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7399" y="3729037"/>
            <a:ext cx="10858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642.798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2136" y="3957637"/>
            <a:ext cx="1488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37,09 % del carrito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77350" y="514350"/>
            <a:ext cx="2305050" cy="333375"/>
          </a:xfrm>
          <a:prstGeom prst="roundRect">
            <a:avLst>
              <a:gd name="adj" fmla="val 11428"/>
            </a:avLst>
          </a:prstGeom>
          <a:solidFill>
            <a:srgbClr val="EAF2F6"/>
          </a:solidFill>
          <a:ln w="9525">
            <a:solidFill>
              <a:srgbClr val="277D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5048250"/>
            <a:ext cx="350520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5048250"/>
            <a:ext cx="350520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7200" y="5048250"/>
            <a:ext cx="350520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6086475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5048250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5048250"/>
            <a:ext cx="38100" cy="104775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05275" y="5048250"/>
            <a:ext cx="9525" cy="104775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6086475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5048250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5048250"/>
            <a:ext cx="38100" cy="104775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39075" y="5048250"/>
            <a:ext cx="9525" cy="104775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6086475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5048250"/>
            <a:ext cx="35052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5048250"/>
            <a:ext cx="38100" cy="104775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5048250"/>
            <a:ext cx="9525" cy="104775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076384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Gold se convierte en una vista interactiva para decidir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257925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dashboard/app.py y tablas Gold.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9275" y="600075"/>
            <a:ext cx="247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77DA1"/>
                </a:solidFill>
                <a:latin typeface="Inter"/>
              </a:rPr>
              <a:t>Filtros: mes · fecha · categoría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301" y="2886075"/>
            <a:ext cx="6917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666666"/>
                </a:solidFill>
                <a:latin typeface="Inter"/>
              </a:rPr>
              <a:t>[INSERTAR IMG-05: Streamlit con filtros, KPIs, funnel y tendencia]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5319712"/>
            <a:ext cx="3750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17324D"/>
                </a:solidFill>
                <a:latin typeface="Inter"/>
              </a:rPr>
              <a:t>1.659.703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5662612"/>
            <a:ext cx="3750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eventos de compra deduplicados.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0100" y="5319712"/>
            <a:ext cx="3750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277DA1"/>
                </a:solidFill>
                <a:latin typeface="Inter"/>
              </a:rPr>
              <a:t>720.625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0100" y="5662612"/>
            <a:ext cx="3750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compras en electronics.smartphone.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5319712"/>
            <a:ext cx="3750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Inter"/>
              </a:rPr>
              <a:t>09:00 UTC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5662612"/>
            <a:ext cx="3750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hora con más compras (126.616).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FFCAEC74-0102-B80B-F6A2-02C8799C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457"/>
            <a:ext cx="7385814" cy="361326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E98371D0-8E2C-DC2A-6B40-FB52049D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643" y="1394588"/>
            <a:ext cx="5113619" cy="3220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04470" y="5181600"/>
            <a:ext cx="5577929" cy="914400"/>
          </a:xfrm>
          <a:prstGeom prst="roundRect">
            <a:avLst>
              <a:gd name="adj" fmla="val 8333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4470" y="2343150"/>
            <a:ext cx="2674739" cy="1281112"/>
          </a:xfrm>
          <a:prstGeom prst="roundRect">
            <a:avLst>
              <a:gd name="adj" fmla="val 5947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07809" y="2343150"/>
            <a:ext cx="2674739" cy="1281112"/>
          </a:xfrm>
          <a:prstGeom prst="roundRect">
            <a:avLst>
              <a:gd name="adj" fmla="val 5947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04470" y="3852862"/>
            <a:ext cx="2674739" cy="1100137"/>
          </a:xfrm>
          <a:prstGeom prst="roundRect">
            <a:avLst>
              <a:gd name="adj" fmla="val 6926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07809" y="3852862"/>
            <a:ext cx="2674739" cy="1100137"/>
          </a:xfrm>
          <a:prstGeom prst="roundRect">
            <a:avLst>
              <a:gd name="adj" fmla="val 6926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4470" y="2343150"/>
            <a:ext cx="2674739" cy="3810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7809" y="2343150"/>
            <a:ext cx="2674739" cy="38100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2343150"/>
          <a:ext cx="4918619" cy="2038350"/>
        </p:xfrm>
        <a:graphic>
          <a:graphicData uri="http://schemas.openxmlformats.org/drawingml/2006/table">
            <a:tbl>
              <a:tblPr/>
              <a:tblGrid>
                <a:gridCol w="1585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17324D"/>
                          </a:solidFill>
                          <a:latin typeface="Inter"/>
                        </a:rPr>
                        <a:t>Predice no compra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17324D"/>
                          </a:solidFill>
                          <a:latin typeface="Inter"/>
                        </a:rPr>
                        <a:t>Predice compra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7324D"/>
                          </a:solidFill>
                          <a:latin typeface="Inter"/>
                        </a:rPr>
                        <a:t>Real: no compra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277DA1"/>
                          </a:solidFill>
                          <a:latin typeface="Inter"/>
                        </a:rPr>
                        <a:t>183.164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8FAFC"/>
                          </a:solidFill>
                          <a:latin typeface="Inter"/>
                        </a:rPr>
                        <a:t>76.619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7324D"/>
                          </a:solidFill>
                          <a:latin typeface="Inter"/>
                        </a:rPr>
                        <a:t>Real: compra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Inter"/>
                        </a:rPr>
                        <a:t>1.413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Inter"/>
                        </a:rPr>
                        <a:t>3.998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115824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El modelo detecta muchas compras, pero también genera falsas alarmas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4668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7324D"/>
                </a:solidFill>
                <a:latin typeface="Inter"/>
              </a:rPr>
              <a:t>Regresión logística ponderada: actividad de los primeros 5 minutos → compra posterior al corte.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77165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66666"/>
                </a:solidFill>
                <a:latin typeface="Inter"/>
              </a:rPr>
              <a:t>Entrenamiento: octubre · Prueba temporal: noviembre · Muestra determinista: 2 % de sesiones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57925"/>
            <a:ext cx="4786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Fuente: data/output/model_evaluation.json y docs/bitacora_proceso.md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15725" y="6257925"/>
            <a:ext cx="352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70" y="5410200"/>
            <a:ext cx="52159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9844A"/>
                </a:solidFill>
                <a:latin typeface="Inter"/>
              </a:rPr>
              <a:t>Uso defendible: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priorizar sesiones para análisis o intervenciones de bajo costo. No automatizar decisiones con el umbral actual.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70" y="2697956"/>
            <a:ext cx="277192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Inter"/>
              </a:rPr>
              <a:t>73,89 %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70" y="3117056"/>
            <a:ext cx="27719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7324D"/>
                </a:solidFill>
                <a:latin typeface="Inter"/>
              </a:rPr>
              <a:t>recall.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409" y="2697956"/>
            <a:ext cx="277192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Inter"/>
              </a:rPr>
              <a:t>4,96 %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6409" y="3117056"/>
            <a:ext cx="27719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7324D"/>
                </a:solidFill>
                <a:latin typeface="Inter"/>
              </a:rPr>
              <a:t>precisión.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070" y="4169568"/>
            <a:ext cx="277192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17324D"/>
                </a:solidFill>
                <a:latin typeface="Inter"/>
              </a:rPr>
              <a:t>0,796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70" y="4474368"/>
            <a:ext cx="277192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ROC-AUC.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409" y="4169568"/>
            <a:ext cx="277192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17324D"/>
                </a:solidFill>
                <a:latin typeface="Inter"/>
              </a:rPr>
              <a:t>0,0965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409" y="4474368"/>
            <a:ext cx="277192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Inter"/>
              </a:rPr>
              <a:t>PR-AUC.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867275"/>
            <a:ext cx="10972800" cy="1228725"/>
          </a:xfrm>
          <a:prstGeom prst="roundRect">
            <a:avLst>
              <a:gd name="adj" fmla="val 6201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304925"/>
            <a:ext cx="3454449" cy="3257550"/>
          </a:xfrm>
          <a:prstGeom prst="roundRect">
            <a:avLst>
              <a:gd name="adj" fmla="val 2339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8849" y="1304925"/>
            <a:ext cx="3454449" cy="3257550"/>
          </a:xfrm>
          <a:prstGeom prst="roundRect">
            <a:avLst>
              <a:gd name="adj" fmla="val 2339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1304925"/>
            <a:ext cx="3454449" cy="3257550"/>
          </a:xfrm>
          <a:prstGeom prst="roundRect">
            <a:avLst>
              <a:gd name="adj" fmla="val 2339"/>
            </a:avLst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304925"/>
            <a:ext cx="3454449" cy="57150"/>
          </a:xfrm>
          <a:prstGeom prst="rect">
            <a:avLst/>
          </a:prstGeom>
          <a:solidFill>
            <a:srgbClr val="27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8849" y="1304925"/>
            <a:ext cx="3454449" cy="57150"/>
          </a:xfrm>
          <a:prstGeom prst="rect">
            <a:avLst/>
          </a:prstGeom>
          <a:solidFill>
            <a:srgbClr val="F98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28099" y="1304925"/>
            <a:ext cx="3454449" cy="57150"/>
          </a:xfrm>
          <a:prstGeom prst="rect">
            <a:avLst/>
          </a:prstGeom>
          <a:solidFill>
            <a:srgbClr val="43A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0" y="5414962"/>
            <a:ext cx="857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5" y="5414962"/>
            <a:ext cx="857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775" y="5414962"/>
            <a:ext cx="85725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7324D"/>
                </a:solidFill>
                <a:latin typeface="Inter"/>
              </a:rPr>
              <a:t>Del dato crudo a decisiones medibles, con límites explícitos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95875"/>
            <a:ext cx="689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3AA8B"/>
                </a:solidFill>
                <a:latin typeface="Inter"/>
              </a:rPr>
              <a:t>Conclusión: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la primera oportunidad es mejorar la transición vista → carrito; cualquier intervención debe validarse con más periodos y experimentos de negocio.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57925"/>
            <a:ext cx="5929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Síntesis de documentación y resultados (pipeline_summary.json / model_evaluation.json)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8575" y="6257925"/>
            <a:ext cx="409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Inter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1666875"/>
            <a:ext cx="393389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7DA1"/>
                </a:solidFill>
                <a:latin typeface="Inter"/>
              </a:rPr>
              <a:t>Valor generado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449" y="1666875"/>
            <a:ext cx="393389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Límites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99" y="1666875"/>
            <a:ext cx="3835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Siguientes pasos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050" y="5400675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0AAB2"/>
                </a:solidFill>
                <a:latin typeface="Inter"/>
              </a:rPr>
              <a:t>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5375" y="5400675"/>
            <a:ext cx="914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0AAB2"/>
                </a:solidFill>
                <a:latin typeface="Inter"/>
              </a:rPr>
              <a:t>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400675"/>
            <a:ext cx="904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0AAB2"/>
                </a:solidFill>
                <a:latin typeface="Inter"/>
              </a:rPr>
              <a:t>Hipótesis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800" y="5400675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9844A"/>
                </a:solidFill>
                <a:latin typeface="Inter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214122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2143125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Pipeline reproducible para 109,95 M de eventos.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274308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2744985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Funnel y prioridades de categoría/tiempo.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3344941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3346846"/>
            <a:ext cx="350843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Dashboard interactivo sobre Gold.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3703022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" y="3704927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Línea base predictiva evaluada temporalmente.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2224" y="214122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7949" y="2143125"/>
            <a:ext cx="350843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Solo octubre y noviembre de 2019.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2224" y="249930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7949" y="2501205"/>
            <a:ext cx="350843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Datos observacionales, sin causalidad.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2224" y="285738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7949" y="2859285"/>
            <a:ext cx="350843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price no equivale a ingreso neto.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2224" y="3215461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7949" y="3217366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Precisión ML insuficiente para automatizar.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1474" y="214122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7199" y="2143125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Incorporar más meses y validar estacionalidad.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1474" y="274308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7199" y="2744985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Ajustar el umbral según costo de intervención.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1474" y="3344941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7199" y="3346846"/>
            <a:ext cx="3508437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Validar hipótesis con pruebas A/B.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1474" y="3703022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7324D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7199" y="3704927"/>
            <a:ext cx="2901999" cy="4875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7324D"/>
                </a:solidFill>
                <a:latin typeface="Inter"/>
              </a:rPr>
              <a:t>Automatizar refresco con fuente periódica.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920</Words>
  <Application>Microsoft Office PowerPoint</Application>
  <PresentationFormat>Panorámica</PresentationFormat>
  <Paragraphs>193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Marlon Velasco</dc:creator>
  <cp:keywords/>
  <dc:description>generated using python-pptx</dc:description>
  <cp:lastModifiedBy>Marlon Velasco</cp:lastModifiedBy>
  <cp:revision>5</cp:revision>
  <dcterms:created xsi:type="dcterms:W3CDTF">2013-01-27T09:14:16Z</dcterms:created>
  <dcterms:modified xsi:type="dcterms:W3CDTF">2026-09-29T02:02:07Z</dcterms:modified>
  <cp:category/>
</cp:coreProperties>
</file>